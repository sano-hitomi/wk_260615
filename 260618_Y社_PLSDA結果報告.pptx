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E41B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0000"/>
  </p:normalViewPr>
  <p:slideViewPr>
    <p:cSldViewPr snapToGrid="0" snapToObjects="1">
      <p:cViewPr varScale="1">
        <p:scale>
          <a:sx n="134" d="100"/>
          <a:sy n="134" d="100"/>
        </p:scale>
        <p:origin x="1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524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FCE5F-E9C0-5BFE-0372-3B916526F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2CD984-6513-DFD4-7491-E7B1B40DE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F8D47-F78D-C7D6-28F7-117C09550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一次胆汁酸 (Primary bile acids):</a:t>
            </a:r>
            <a:r>
              <a:rPr lang="en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CA（コール酸）および CDCA（ケノデオキシコール酸）は、肝臓でコレステロールから直接合成される一次胆汁酸</a:t>
            </a:r>
          </a:p>
          <a:p>
            <a:r>
              <a:rPr lang="en-JP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二次胆汁酸 (Secondary bile acids):</a:t>
            </a:r>
            <a:r>
              <a:rPr lang="en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DCA（デオキシコール酸）は、腸内細菌の働きによって一次胆汁酸（主にCA）から変換されて生成される二次胆汁酸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E3B3B-E3A2-8556-EE85-4B4281059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256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0039"/>
                </a:solidFill>
              </a:rPr>
              <a:t>【</a:t>
            </a:r>
            <a:r>
              <a:rPr lang="en-US" sz="2400" b="1" dirty="0" err="1">
                <a:solidFill>
                  <a:srgbClr val="E60039"/>
                </a:solidFill>
              </a:rPr>
              <a:t>コリン・カルニチン負荷試験</a:t>
            </a:r>
            <a:r>
              <a:rPr lang="en-US" sz="2400" b="1" dirty="0">
                <a:solidFill>
                  <a:srgbClr val="E60039"/>
                </a:solidFill>
              </a:rPr>
              <a:t>】</a:t>
            </a:r>
          </a:p>
          <a:p>
            <a:pPr marL="0" indent="0">
              <a:buNone/>
            </a:pPr>
            <a:r>
              <a:rPr lang="ja-JP" altLang="en-US" sz="2400" b="1">
                <a:solidFill>
                  <a:srgbClr val="E60039"/>
                </a:solidFill>
              </a:rPr>
              <a:t>　</a:t>
            </a:r>
            <a:r>
              <a:rPr lang="en-US" sz="2400" b="1" dirty="0" err="1">
                <a:solidFill>
                  <a:srgbClr val="E60039"/>
                </a:solidFill>
              </a:rPr>
              <a:t>システム生物学的方法による解析のご報告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2560320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 err="1">
                <a:solidFill>
                  <a:srgbClr val="555555"/>
                </a:solidFill>
              </a:rPr>
              <a:t>摂動X</a:t>
            </a:r>
            <a:r>
              <a:rPr lang="en-US" sz="1300" dirty="0">
                <a:solidFill>
                  <a:srgbClr val="555555"/>
                </a:solidFill>
              </a:rPr>
              <a:t> (Early: T1–T3) ・</a:t>
            </a:r>
            <a:r>
              <a:rPr lang="en-US" sz="1300" dirty="0" err="1">
                <a:solidFill>
                  <a:srgbClr val="555555"/>
                </a:solidFill>
              </a:rPr>
              <a:t>摂動Y</a:t>
            </a:r>
            <a:r>
              <a:rPr lang="en-US" sz="1300" dirty="0">
                <a:solidFill>
                  <a:srgbClr val="555555"/>
                </a:solidFill>
              </a:rPr>
              <a:t> (Late: T4–T6) </a:t>
            </a:r>
            <a:r>
              <a:rPr lang="en-US" sz="1300" dirty="0" err="1">
                <a:solidFill>
                  <a:srgbClr val="555555"/>
                </a:solidFill>
              </a:rPr>
              <a:t>に対する被験者応答グループの識別と背景メカニズムの検討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PLS-DA（Partial Least Squares Discriminant Analysis）とは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39"/>
                </a:solidFill>
              </a:rPr>
              <a:t>概要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88696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</a:rPr>
              <a:t>多数の説明変数（代謝物）からグループラベル（目的変数）を最もよく予測する潜在成分を抽出する</a:t>
            </a:r>
            <a:r>
              <a:rPr lang="en-US" sz="1100" dirty="0">
                <a:solidFill>
                  <a:srgbClr val="555555"/>
                </a:solidFill>
              </a:rPr>
              <a:t>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60039"/>
                </a:solidFill>
              </a:rPr>
              <a:t>主成分分析（PCA）との違い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777240" cy="475488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Text 8"/>
          <p:cNvSpPr/>
          <p:nvPr/>
        </p:nvSpPr>
        <p:spPr>
          <a:xfrm>
            <a:off x="320040" y="221284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9292"/>
                </a:solidFill>
              </a:rPr>
              <a:t>PCA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70432" y="225856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555555"/>
                </a:solidFill>
              </a:rPr>
              <a:t>データの分散を最大化する成分を抽出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555555"/>
                </a:solidFill>
              </a:rPr>
              <a:t>グループ情報は使わない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871216"/>
            <a:ext cx="77724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Text 11"/>
          <p:cNvSpPr/>
          <p:nvPr/>
        </p:nvSpPr>
        <p:spPr>
          <a:xfrm>
            <a:off x="320040" y="28712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PLS-DA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916936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555555"/>
                </a:solidFill>
              </a:rPr>
              <a:t>グループ間の分離を最大化する成分を抽出</a:t>
            </a:r>
            <a:r>
              <a:rPr lang="en-US" sz="1000" b="1" dirty="0">
                <a:solidFill>
                  <a:srgbClr val="555555"/>
                </a:solidFill>
              </a:rPr>
              <a:t>。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555555"/>
                </a:solidFill>
              </a:rPr>
              <a:t>目的変数（Y）を考慮する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584448"/>
            <a:ext cx="41605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320040" y="367588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E60039"/>
                </a:solidFill>
              </a:rPr>
              <a:t>出力の概要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3950210"/>
            <a:ext cx="66353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222222"/>
                </a:solidFill>
              </a:rPr>
              <a:t>スコアプロット</a:t>
            </a:r>
            <a:r>
              <a:rPr lang="en-US" sz="1000" dirty="0">
                <a:solidFill>
                  <a:srgbClr val="555555"/>
                </a:solidFill>
              </a:rPr>
              <a:t> : </a:t>
            </a:r>
            <a:r>
              <a:rPr lang="en-US" sz="1000" dirty="0" err="1">
                <a:solidFill>
                  <a:srgbClr val="555555"/>
                </a:solidFill>
              </a:rPr>
              <a:t>各サンプルの座標。空間的な分離を確認する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222222"/>
                </a:solidFill>
              </a:rPr>
              <a:t>VIP スコア</a:t>
            </a:r>
            <a:r>
              <a:rPr lang="en-US" sz="1000" dirty="0">
                <a:solidFill>
                  <a:srgbClr val="555555"/>
                </a:solidFill>
              </a:rPr>
              <a:t> : 各代謝物がグループ分離に寄与する度合い（&gt;1 が有意の目安）。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000" b="1" dirty="0">
                <a:solidFill>
                  <a:srgbClr val="222222"/>
                </a:solidFill>
              </a:rPr>
              <a:t>Loadings</a:t>
            </a:r>
            <a:r>
              <a:rPr lang="en-US" sz="1000" dirty="0">
                <a:solidFill>
                  <a:srgbClr val="555555"/>
                </a:solidFill>
              </a:rPr>
              <a:t>: 各代謝物が成分軸に対して持つ方向と強さ。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54114" y="685803"/>
            <a:ext cx="3969845" cy="2898645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9" name="Text 17"/>
          <p:cNvSpPr/>
          <p:nvPr/>
        </p:nvSpPr>
        <p:spPr>
          <a:xfrm>
            <a:off x="4910328" y="685803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39"/>
                </a:solidFill>
              </a:rPr>
              <a:t>本解析での設定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10328" y="1078995"/>
            <a:ext cx="1417320" cy="43891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4910328" y="107899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</a:rPr>
              <a:t>説明変数</a:t>
            </a:r>
            <a:r>
              <a:rPr lang="en-US" sz="950" b="1" dirty="0">
                <a:solidFill>
                  <a:srgbClr val="FFFFFF"/>
                </a:solidFill>
              </a:rPr>
              <a:t>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1088139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 err="1">
                <a:solidFill>
                  <a:srgbClr val="555555"/>
                </a:solidFill>
              </a:rPr>
              <a:t>Unknownを含む全代謝物の</a:t>
            </a:r>
            <a:r>
              <a:rPr lang="en-US" sz="950" dirty="0">
                <a:solidFill>
                  <a:srgbClr val="555555"/>
                </a:solidFill>
              </a:rPr>
              <a:t> log2 変換強度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（被験者×時点を独立観測）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10328" y="1595256"/>
            <a:ext cx="3886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Shape 22"/>
          <p:cNvSpPr/>
          <p:nvPr/>
        </p:nvSpPr>
        <p:spPr>
          <a:xfrm>
            <a:off x="4910328" y="1700787"/>
            <a:ext cx="1417320" cy="43891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Text 23"/>
          <p:cNvSpPr/>
          <p:nvPr/>
        </p:nvSpPr>
        <p:spPr>
          <a:xfrm>
            <a:off x="4910328" y="1700787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</a:rPr>
              <a:t>目的変数</a:t>
            </a:r>
            <a:r>
              <a:rPr lang="en-US" sz="950" b="1" dirty="0">
                <a:solidFill>
                  <a:srgbClr val="FFFFFF"/>
                </a:solidFill>
              </a:rPr>
              <a:t> 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0" y="1709931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4グループラベル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（Both / X only / Y only / Other）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0328" y="2224543"/>
            <a:ext cx="3886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Shape 26"/>
          <p:cNvSpPr/>
          <p:nvPr/>
        </p:nvSpPr>
        <p:spPr>
          <a:xfrm>
            <a:off x="4910328" y="2322579"/>
            <a:ext cx="1417320" cy="43891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9" name="Text 27"/>
          <p:cNvSpPr/>
          <p:nvPr/>
        </p:nvSpPr>
        <p:spPr>
          <a:xfrm>
            <a:off x="4910328" y="2322579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解析単位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0" y="2331723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被験者×時点（T1, T2, T3 各々を別観測）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10328" y="2838840"/>
            <a:ext cx="38862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2" name="Shape 30"/>
          <p:cNvSpPr/>
          <p:nvPr/>
        </p:nvSpPr>
        <p:spPr>
          <a:xfrm>
            <a:off x="4910328" y="2944371"/>
            <a:ext cx="1417320" cy="43891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Text 31"/>
          <p:cNvSpPr/>
          <p:nvPr/>
        </p:nvSpPr>
        <p:spPr>
          <a:xfrm>
            <a:off x="4910328" y="2944371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期間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2953515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Early (T1–T3) と Late (T4–T6) を独立に実施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FFFFF"/>
                </a:solidFill>
              </a:rPr>
              <a:t>解析の流れ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502920" cy="502920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被験者グループ分類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698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Alignment ID 414 の log2FC </a:t>
            </a:r>
            <a:r>
              <a:rPr lang="en-US" sz="1100" dirty="0" err="1">
                <a:solidFill>
                  <a:srgbClr val="555555"/>
                </a:solidFill>
              </a:rPr>
              <a:t>を指標に、Early期</a:t>
            </a:r>
            <a:r>
              <a:rPr lang="en-US" sz="1100" dirty="0">
                <a:solidFill>
                  <a:srgbClr val="555555"/>
                </a:solidFill>
              </a:rPr>
              <a:t> (T2/T3 vs T1) と Late期 (T5/T6 vs T4) の上昇有無で4グループに分類する。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65960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502920" cy="502920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Text 9"/>
          <p:cNvSpPr/>
          <p:nvPr/>
        </p:nvSpPr>
        <p:spPr>
          <a:xfrm>
            <a:off x="32004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756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PLS-DA 実施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全代謝物（log2変換）を説明変数、4グループラベルを目的変数として、Early期とLate期 それぞれで独立に PLS-DA を実施。各被験者×時点を独立観測として扱う。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55848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Shape 13"/>
          <p:cNvSpPr/>
          <p:nvPr/>
        </p:nvSpPr>
        <p:spPr>
          <a:xfrm>
            <a:off x="320040" y="3465576"/>
            <a:ext cx="502920" cy="502920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32004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46557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</a:rPr>
              <a:t>VIP・ローディング解析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84962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55555"/>
                </a:solidFill>
              </a:rPr>
              <a:t>Component 1 の VIP スコアと Loadings </a:t>
            </a:r>
            <a:r>
              <a:rPr lang="en-US" sz="1100" dirty="0" err="1">
                <a:solidFill>
                  <a:srgbClr val="555555"/>
                </a:solidFill>
              </a:rPr>
              <a:t>を抽出し、Early期とLate期で比較することでグループ識別に寄与する代謝物と期間特異性を評価する</a:t>
            </a:r>
            <a:r>
              <a:rPr lang="en-US" sz="1100" dirty="0">
                <a:solidFill>
                  <a:srgbClr val="555555"/>
                </a:solidFill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4グループ分類の定義（Alignment ID 414）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0039" y="594360"/>
            <a:ext cx="866656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 err="1">
                <a:solidFill>
                  <a:srgbClr val="555555"/>
                </a:solidFill>
              </a:rPr>
              <a:t>各被験者について，Early期・Late期それぞれでID</a:t>
            </a:r>
            <a:r>
              <a:rPr lang="en-US" sz="1100" dirty="0">
                <a:solidFill>
                  <a:srgbClr val="555555"/>
                </a:solidFill>
              </a:rPr>
              <a:t> 414 が T2 or T3 で上昇 (log2FC &gt; 0)」の有無を判定し、以下の4グループに分類した。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330807"/>
              </p:ext>
            </p:extLst>
          </p:nvPr>
        </p:nvGraphicFramePr>
        <p:xfrm>
          <a:off x="320039" y="1394460"/>
          <a:ext cx="850392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グループ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Early (T1–T3)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early_up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Late (T4–T6)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late_up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解釈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60039"/>
                          </a:solidFill>
                        </a:rPr>
                        <a:t>Both (X &amp; Y)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摂動X・Yどちらでも上昇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77EB8"/>
                          </a:solidFill>
                        </a:rPr>
                        <a:t>X only (early↑)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29292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摂動Xのみで上昇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DAF4A"/>
                          </a:solidFill>
                        </a:rPr>
                        <a:t>Y only (late↑)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29292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TRUE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摂動Yのみで上昇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84EA3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29292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29292"/>
                          </a:solidFill>
                        </a:rPr>
                        <a:t>FALSE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いずれでも上昇せず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39" y="44348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9292"/>
                </a:solidFill>
              </a:rPr>
              <a:t>early_up = T2 vs T1 または T3 vs T1 のいずれかで log2FC &gt; 0  ／  late_up = T5 vs T4 または T6 vs T4 のいずれかで log2FC &gt; 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PLS-DA スコアプロット — Early (T1–T3，摂動X)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086600" y="1169233"/>
            <a:ext cx="1874520" cy="2893102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Text 4"/>
          <p:cNvSpPr/>
          <p:nvPr/>
        </p:nvSpPr>
        <p:spPr>
          <a:xfrm>
            <a:off x="7132320" y="123549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0039"/>
                </a:solidFill>
              </a:rPr>
              <a:t>観察点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50608" y="987552"/>
            <a:ext cx="1691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Comp1 が 53.3% を説明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Other (紫) が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負方向に偏在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X only (青) の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楕円が正方向に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大きく伸展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Both (赤) が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最も広く分散</a:t>
            </a:r>
            <a:endParaRPr lang="en-US" sz="9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E1861C-BF9C-A8CF-F50E-5781CCA83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549941"/>
            <a:ext cx="6181119" cy="4532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PLS-DA スコアプロット — Late (T4–T6，摂動Y)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086600" y="1220499"/>
            <a:ext cx="1828800" cy="3059194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Text 4"/>
          <p:cNvSpPr/>
          <p:nvPr/>
        </p:nvSpPr>
        <p:spPr>
          <a:xfrm>
            <a:off x="7150608" y="1220499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0039"/>
                </a:solidFill>
              </a:rPr>
              <a:t>観察点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50608" y="987552"/>
            <a:ext cx="1691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Comp1 が 54.0% を説明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Y only (緑) が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正方向に伸展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Early と逆転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X only (青) は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中央付近に収束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 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Both (赤) の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負方向外れ値が</a:t>
            </a:r>
            <a:endParaRPr lang="en-US" sz="9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顕著</a:t>
            </a:r>
            <a:endParaRPr lang="en-US" sz="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A7F8BE2-9F50-59FE-7FC4-39A2299BB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549941"/>
            <a:ext cx="6179695" cy="4531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スコアプロット比較 — 摂動X vs </a:t>
            </a:r>
            <a:r>
              <a:rPr lang="en-US" sz="1800" b="1" dirty="0" err="1">
                <a:solidFill>
                  <a:srgbClr val="FFFFFF"/>
                </a:solidFill>
              </a:rPr>
              <a:t>摂動Y</a:t>
            </a:r>
            <a:r>
              <a:rPr lang="en-US" sz="1800" b="1" dirty="0">
                <a:solidFill>
                  <a:srgbClr val="FFFFFF"/>
                </a:solidFill>
              </a:rPr>
              <a:t> </a:t>
            </a:r>
            <a:r>
              <a:rPr lang="en-US" sz="1800" b="1" dirty="0" err="1">
                <a:solidFill>
                  <a:srgbClr val="FFFFFF"/>
                </a:solidFill>
              </a:rPr>
              <a:t>でメカニズムが異なる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54864" cy="1188720"/>
          </a:xfrm>
          <a:prstGeom prst="rect">
            <a:avLst/>
          </a:prstGeom>
          <a:solidFill>
            <a:srgbClr val="929292"/>
          </a:solidFill>
          <a:ln w="12700">
            <a:solidFill>
              <a:srgbClr val="92929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929292"/>
                </a:solidFill>
              </a:rPr>
              <a:t>概要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9292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Comp1 寄与率がほぼ同じ（53–54%）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2710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9292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両期間とも第1成分が支配的な代謝軸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5636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29292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Both グループが最も広く分散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56816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Shape 9"/>
          <p:cNvSpPr/>
          <p:nvPr/>
        </p:nvSpPr>
        <p:spPr>
          <a:xfrm>
            <a:off x="320040" y="2121408"/>
            <a:ext cx="54864" cy="1188720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0039"/>
                </a:solidFill>
              </a:rPr>
              <a:t>相違点（メカニズム差の根拠）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41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0039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X only (青) は Early で正方向 → Late では中央へ収束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340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0039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Y only (緑) は Late で正方向へ伸展 → 期間で入れ替わり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266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0039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グループ空間配置の変化 = Comp1 のローディングが別代謝物群で構成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419856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7" name="Shape 15"/>
          <p:cNvSpPr/>
          <p:nvPr/>
        </p:nvSpPr>
        <p:spPr>
          <a:xfrm>
            <a:off x="320040" y="3584448"/>
            <a:ext cx="54864" cy="11887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8" name="Text 16"/>
          <p:cNvSpPr/>
          <p:nvPr/>
        </p:nvSpPr>
        <p:spPr>
          <a:xfrm>
            <a:off x="502920" y="358444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55555"/>
                </a:solidFill>
              </a:rPr>
              <a:t>解釈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0448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–  </a:t>
            </a:r>
            <a:r>
              <a:rPr lang="en-US" sz="1050" dirty="0" err="1">
                <a:solidFill>
                  <a:srgbClr val="555555"/>
                </a:solidFill>
              </a:rPr>
              <a:t>Early期とLate期それぞれのスコアプロットでグループ位置が変わる</a:t>
            </a:r>
            <a:r>
              <a:rPr lang="en-US" sz="1050" dirty="0">
                <a:solidFill>
                  <a:srgbClr val="555555"/>
                </a:solidFill>
              </a:rPr>
              <a:t> → </a:t>
            </a:r>
            <a:r>
              <a:rPr lang="en-US" sz="1050" b="1" dirty="0">
                <a:solidFill>
                  <a:srgbClr val="555555"/>
                </a:solidFill>
              </a:rPr>
              <a:t>異なる代謝物群が各期間の変動を説明</a:t>
            </a:r>
            <a:endParaRPr lang="en-US" sz="1050" b="1" dirty="0"/>
          </a:p>
        </p:txBody>
      </p:sp>
      <p:sp>
        <p:nvSpPr>
          <p:cNvPr id="20" name="Text 18"/>
          <p:cNvSpPr/>
          <p:nvPr/>
        </p:nvSpPr>
        <p:spPr>
          <a:xfrm>
            <a:off x="548640" y="41970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–  </a:t>
            </a:r>
            <a:r>
              <a:rPr lang="en-US" sz="1050" b="1" dirty="0" err="1">
                <a:solidFill>
                  <a:srgbClr val="555555"/>
                </a:solidFill>
              </a:rPr>
              <a:t>目的変数の変化に関係する</a:t>
            </a:r>
            <a:r>
              <a:rPr lang="en-US" sz="1050" dirty="0" err="1">
                <a:solidFill>
                  <a:srgbClr val="555555"/>
                </a:solidFill>
              </a:rPr>
              <a:t>代謝物・経路は摂動X・Yで少なくとも部分的に異なる可能性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48970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</a:rPr>
              <a:t>–  </a:t>
            </a:r>
            <a:r>
              <a:rPr lang="en-US" sz="1050" dirty="0">
                <a:solidFill>
                  <a:srgbClr val="555555"/>
                </a:solidFill>
              </a:rPr>
              <a:t>Both グループは両経路が活性化できる素因を持つ被験者群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VIP 比較 — Early vs Late (Component 1)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989320" y="594360"/>
            <a:ext cx="2834640" cy="4000125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Text 4"/>
          <p:cNvSpPr/>
          <p:nvPr/>
        </p:nvSpPr>
        <p:spPr>
          <a:xfrm>
            <a:off x="6080760" y="685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E60039"/>
                </a:solidFill>
              </a:rPr>
              <a:t>解釈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80760" y="10515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</a:rPr>
              <a:t>右上 (Both, 赤)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130759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EarlyとLate両方で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VIP &gt; 1 → 両摂動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555555"/>
                </a:solidFill>
              </a:rPr>
              <a:t>共通の重要代謝物</a:t>
            </a:r>
            <a:endParaRPr lang="en-US" sz="950" b="1" dirty="0"/>
          </a:p>
        </p:txBody>
      </p:sp>
      <p:sp>
        <p:nvSpPr>
          <p:cNvPr id="11" name="Text 8"/>
          <p:cNvSpPr/>
          <p:nvPr/>
        </p:nvSpPr>
        <p:spPr>
          <a:xfrm>
            <a:off x="6080760" y="22402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</a:rPr>
              <a:t>右下 (Early only, 青)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249631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Early期のみVIP &gt; 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</a:t>
            </a:r>
            <a:r>
              <a:rPr lang="en-US" sz="950" b="1" dirty="0" err="1">
                <a:solidFill>
                  <a:srgbClr val="555555"/>
                </a:solidFill>
              </a:rPr>
              <a:t>摂動X特異的な代謝物</a:t>
            </a:r>
            <a:endParaRPr lang="en-US" sz="950" b="1" dirty="0"/>
          </a:p>
        </p:txBody>
      </p:sp>
      <p:sp>
        <p:nvSpPr>
          <p:cNvPr id="14" name="Text 11"/>
          <p:cNvSpPr/>
          <p:nvPr/>
        </p:nvSpPr>
        <p:spPr>
          <a:xfrm>
            <a:off x="6080760" y="342900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2222"/>
                </a:solidFill>
              </a:rPr>
              <a:t>左上 (Late only, 緑)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80760" y="3685032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Late期のみVIP &gt; 1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</a:t>
            </a:r>
            <a:r>
              <a:rPr lang="en-US" sz="950" b="1" dirty="0" err="1">
                <a:solidFill>
                  <a:srgbClr val="555555"/>
                </a:solidFill>
              </a:rPr>
              <a:t>摂動Y特異的な代謝物</a:t>
            </a:r>
            <a:endParaRPr lang="en-US" sz="950" b="1" dirty="0"/>
          </a:p>
        </p:txBody>
      </p:sp>
      <p:sp>
        <p:nvSpPr>
          <p:cNvPr id="16" name="Text 13"/>
          <p:cNvSpPr/>
          <p:nvPr/>
        </p:nvSpPr>
        <p:spPr>
          <a:xfrm>
            <a:off x="1983948" y="4805172"/>
            <a:ext cx="22282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9292"/>
                </a:solidFill>
              </a:rPr>
              <a:t>点線: VIP = 1（一般的な重要性閾値）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D34C3D-6AA7-8A24-9A21-5531824C8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03" y="514209"/>
            <a:ext cx="5098155" cy="43138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VIP 上位代謝物 — Early (T1–T3，摂動X)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088880" y="4800600"/>
            <a:ext cx="553511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29292"/>
                </a:solidFill>
              </a:rPr>
              <a:t>Cholesterol (low score) が最高 VIP。上位には多数の Unknown </a:t>
            </a:r>
            <a:r>
              <a:rPr lang="en-US" sz="900" i="1" dirty="0" err="1">
                <a:solidFill>
                  <a:srgbClr val="929292"/>
                </a:solidFill>
              </a:rPr>
              <a:t>特徴量が含まれる</a:t>
            </a:r>
            <a:r>
              <a:rPr lang="en-US" sz="900" i="1" dirty="0">
                <a:solidFill>
                  <a:srgbClr val="929292"/>
                </a:solidFill>
              </a:rPr>
              <a:t>。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0EC37E-994A-028A-D397-6F52D0AB0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001" y="649261"/>
            <a:ext cx="5527249" cy="41454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VIP 上位代謝物 — Late (T4–T6，摂動Y)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70535" y="4774366"/>
            <a:ext cx="620293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 err="1">
                <a:solidFill>
                  <a:srgbClr val="929292"/>
                </a:solidFill>
              </a:rPr>
              <a:t>Unknownが多いが，Capsiamide</a:t>
            </a:r>
            <a:r>
              <a:rPr lang="en-US" sz="900" i="1" dirty="0">
                <a:solidFill>
                  <a:srgbClr val="929292"/>
                </a:solidFill>
              </a:rPr>
              <a:t>, SM(d18:0/16:1(9Z)) </a:t>
            </a:r>
            <a:r>
              <a:rPr lang="en-US" sz="900" i="1" dirty="0" err="1">
                <a:solidFill>
                  <a:srgbClr val="929292"/>
                </a:solidFill>
              </a:rPr>
              <a:t>などの既知代謝物も含まれ</a:t>
            </a:r>
            <a:r>
              <a:rPr lang="en-US" sz="900" i="1" dirty="0">
                <a:solidFill>
                  <a:srgbClr val="929292"/>
                </a:solidFill>
              </a:rPr>
              <a:t>， Early </a:t>
            </a:r>
            <a:r>
              <a:rPr lang="en-US" sz="900" i="1" dirty="0" err="1">
                <a:solidFill>
                  <a:srgbClr val="929292"/>
                </a:solidFill>
              </a:rPr>
              <a:t>期とは</a:t>
            </a:r>
            <a:r>
              <a:rPr lang="en-US" sz="900" i="1" dirty="0">
                <a:solidFill>
                  <a:srgbClr val="929292"/>
                </a:solidFill>
              </a:rPr>
              <a:t> </a:t>
            </a:r>
            <a:r>
              <a:rPr lang="en-US" sz="900" i="1" dirty="0" err="1">
                <a:solidFill>
                  <a:srgbClr val="929292"/>
                </a:solidFill>
              </a:rPr>
              <a:t>異なるプロファイル</a:t>
            </a:r>
            <a:r>
              <a:rPr lang="en-US" sz="900" i="1" dirty="0">
                <a:solidFill>
                  <a:srgbClr val="929292"/>
                </a:solidFill>
              </a:rPr>
              <a:t>。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9E95D7-E487-3F4F-CE16-85F48834E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375" y="609358"/>
            <a:ext cx="5527250" cy="41454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Comp1 ローディング比較 — 同方向 vs 逆転代謝物</a:t>
            </a:r>
            <a:endParaRPr lang="en-US" sz="1800" dirty="0"/>
          </a:p>
        </p:txBody>
      </p:sp>
      <p:pic>
        <p:nvPicPr>
          <p:cNvPr id="5" name="Image 0" descr="/sessions/serene-exciting-lovelace/mnt/TMAO_data_analysis/output/plsda_loading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566928"/>
            <a:ext cx="539496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594360"/>
            <a:ext cx="2926080" cy="4060086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Text 4"/>
          <p:cNvSpPr/>
          <p:nvPr/>
        </p:nvSpPr>
        <p:spPr>
          <a:xfrm>
            <a:off x="5989320" y="685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E60039"/>
                </a:solidFill>
              </a:rPr>
              <a:t>解釈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0241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0039"/>
                </a:solidFill>
              </a:rPr>
              <a:t>Q1 (++)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89320" y="129844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両期間で正方向に寄与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共通経路の代謝物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89320" y="2258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5555"/>
                </a:solidFill>
              </a:rPr>
              <a:t>Q4 (--)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25328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両期間で負方向に寄与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共通だが抑制方向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8932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7EB8"/>
                </a:solidFill>
              </a:rPr>
              <a:t>Q2 (-+) / Q3 (+-)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76732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期間をまたいでローディング方向が反転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摂動X・Yで役割が逆転する代謝物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</a:rPr>
              <a:t>→ メカニズム差の有力な候補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65263-45D0-1FDE-8B99-575E46C7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34">
            <a:extLst>
              <a:ext uri="{FF2B5EF4-FFF2-40B4-BE49-F238E27FC236}">
                <a16:creationId xmlns:a16="http://schemas.microsoft.com/office/drawing/2014/main" id="{40D38A4A-FE44-5CC6-D494-380FA0A1C150}"/>
              </a:ext>
            </a:extLst>
          </p:cNvPr>
          <p:cNvSpPr/>
          <p:nvPr/>
        </p:nvSpPr>
        <p:spPr>
          <a:xfrm>
            <a:off x="2020674" y="1251585"/>
            <a:ext cx="2281503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BAA7B47-57E7-062B-038C-029F153812B1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220552-55F6-FE88-61E8-7C146CCB1803}"/>
              </a:ext>
            </a:extLst>
          </p:cNvPr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生物学的解釈）胆汁酸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ローディングパターン</a:t>
            </a:r>
            <a:endParaRPr lang="en-US" sz="1800" dirty="0"/>
          </a:p>
        </p:txBody>
      </p:sp>
      <p:sp>
        <p:nvSpPr>
          <p:cNvPr id="30" name="Shape 34">
            <a:extLst>
              <a:ext uri="{FF2B5EF4-FFF2-40B4-BE49-F238E27FC236}">
                <a16:creationId xmlns:a16="http://schemas.microsoft.com/office/drawing/2014/main" id="{F61E490D-1E15-20B4-0171-50357EC8226E}"/>
              </a:ext>
            </a:extLst>
          </p:cNvPr>
          <p:cNvSpPr/>
          <p:nvPr/>
        </p:nvSpPr>
        <p:spPr>
          <a:xfrm>
            <a:off x="2020674" y="1797939"/>
            <a:ext cx="2281503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1" name="Text 35">
            <a:extLst>
              <a:ext uri="{FF2B5EF4-FFF2-40B4-BE49-F238E27FC236}">
                <a16:creationId xmlns:a16="http://schemas.microsoft.com/office/drawing/2014/main" id="{40DFC926-83E7-8794-298C-FA7AFCF4A493}"/>
              </a:ext>
            </a:extLst>
          </p:cNvPr>
          <p:cNvSpPr/>
          <p:nvPr/>
        </p:nvSpPr>
        <p:spPr>
          <a:xfrm>
            <a:off x="2075538" y="1816227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Chenodeoxycholic acid (CDCA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34" name="Shape 38">
            <a:extLst>
              <a:ext uri="{FF2B5EF4-FFF2-40B4-BE49-F238E27FC236}">
                <a16:creationId xmlns:a16="http://schemas.microsoft.com/office/drawing/2014/main" id="{DB57A3A5-BC1E-2CFE-BA77-BC3B3007D4C7}"/>
              </a:ext>
            </a:extLst>
          </p:cNvPr>
          <p:cNvSpPr/>
          <p:nvPr/>
        </p:nvSpPr>
        <p:spPr>
          <a:xfrm>
            <a:off x="4498248" y="1809369"/>
            <a:ext cx="1819656" cy="448056"/>
          </a:xfrm>
          <a:prstGeom prst="rect">
            <a:avLst/>
          </a:prstGeom>
          <a:solidFill>
            <a:srgbClr val="E41B1C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>
              <a:solidFill>
                <a:srgbClr val="E41B1C"/>
              </a:solidFill>
              <a:highlight>
                <a:srgbClr val="E41B1C"/>
              </a:highlight>
            </a:endParaRPr>
          </a:p>
        </p:txBody>
      </p:sp>
      <p:sp>
        <p:nvSpPr>
          <p:cNvPr id="35" name="Text 39">
            <a:extLst>
              <a:ext uri="{FF2B5EF4-FFF2-40B4-BE49-F238E27FC236}">
                <a16:creationId xmlns:a16="http://schemas.microsoft.com/office/drawing/2014/main" id="{372297CC-91F8-F0D5-0BFB-A6E65B067581}"/>
              </a:ext>
            </a:extLst>
          </p:cNvPr>
          <p:cNvSpPr/>
          <p:nvPr/>
        </p:nvSpPr>
        <p:spPr>
          <a:xfrm>
            <a:off x="4553112" y="1827657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VIP=1.18/0.74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9" name="Text 43">
            <a:extLst>
              <a:ext uri="{FF2B5EF4-FFF2-40B4-BE49-F238E27FC236}">
                <a16:creationId xmlns:a16="http://schemas.microsoft.com/office/drawing/2014/main" id="{3CB152C7-F338-7713-3B0D-C337E9B5578B}"/>
              </a:ext>
            </a:extLst>
          </p:cNvPr>
          <p:cNvSpPr/>
          <p:nvPr/>
        </p:nvSpPr>
        <p:spPr>
          <a:xfrm>
            <a:off x="2075538" y="1258443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Cholic acid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(CA) </a:t>
            </a:r>
            <a:endParaRPr lang="en-US" sz="1100" dirty="0"/>
          </a:p>
        </p:txBody>
      </p:sp>
      <p:sp>
        <p:nvSpPr>
          <p:cNvPr id="42" name="Shape 46">
            <a:extLst>
              <a:ext uri="{FF2B5EF4-FFF2-40B4-BE49-F238E27FC236}">
                <a16:creationId xmlns:a16="http://schemas.microsoft.com/office/drawing/2014/main" id="{3E078BD5-1229-4E3E-42C4-614ADD778911}"/>
              </a:ext>
            </a:extLst>
          </p:cNvPr>
          <p:cNvSpPr/>
          <p:nvPr/>
        </p:nvSpPr>
        <p:spPr>
          <a:xfrm>
            <a:off x="4498248" y="1251585"/>
            <a:ext cx="1819656" cy="448056"/>
          </a:xfrm>
          <a:prstGeom prst="rect">
            <a:avLst/>
          </a:prstGeom>
          <a:solidFill>
            <a:srgbClr val="E41B1C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>
              <a:solidFill>
                <a:srgbClr val="E41B1C"/>
              </a:solidFill>
              <a:highlight>
                <a:srgbClr val="E41B1C"/>
              </a:highlight>
            </a:endParaRPr>
          </a:p>
        </p:txBody>
      </p:sp>
      <p:sp>
        <p:nvSpPr>
          <p:cNvPr id="43" name="Text 47">
            <a:extLst>
              <a:ext uri="{FF2B5EF4-FFF2-40B4-BE49-F238E27FC236}">
                <a16:creationId xmlns:a16="http://schemas.microsoft.com/office/drawing/2014/main" id="{8A3B8519-0462-4A19-3F7C-FD120F64C556}"/>
              </a:ext>
            </a:extLst>
          </p:cNvPr>
          <p:cNvSpPr/>
          <p:nvPr/>
        </p:nvSpPr>
        <p:spPr>
          <a:xfrm>
            <a:off x="4553112" y="1269873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VIP=0.95/0.35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6" name="Shape 50">
            <a:extLst>
              <a:ext uri="{FF2B5EF4-FFF2-40B4-BE49-F238E27FC236}">
                <a16:creationId xmlns:a16="http://schemas.microsoft.com/office/drawing/2014/main" id="{2D62A7F2-EBE5-3CAC-A951-AF94B214EF2B}"/>
              </a:ext>
            </a:extLst>
          </p:cNvPr>
          <p:cNvSpPr/>
          <p:nvPr/>
        </p:nvSpPr>
        <p:spPr>
          <a:xfrm>
            <a:off x="2020674" y="2785491"/>
            <a:ext cx="2281503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7" name="Text 51">
            <a:extLst>
              <a:ext uri="{FF2B5EF4-FFF2-40B4-BE49-F238E27FC236}">
                <a16:creationId xmlns:a16="http://schemas.microsoft.com/office/drawing/2014/main" id="{FDC4F533-67B5-E941-0E7B-4AC381DB77AE}"/>
              </a:ext>
            </a:extLst>
          </p:cNvPr>
          <p:cNvSpPr/>
          <p:nvPr/>
        </p:nvSpPr>
        <p:spPr>
          <a:xfrm>
            <a:off x="2075538" y="2803779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Deoxycholic acid (DCA) </a:t>
            </a:r>
            <a:endParaRPr lang="en-US" sz="1100" dirty="0"/>
          </a:p>
        </p:txBody>
      </p:sp>
      <p:sp>
        <p:nvSpPr>
          <p:cNvPr id="50" name="Shape 54">
            <a:extLst>
              <a:ext uri="{FF2B5EF4-FFF2-40B4-BE49-F238E27FC236}">
                <a16:creationId xmlns:a16="http://schemas.microsoft.com/office/drawing/2014/main" id="{C6D09402-35F9-A08C-019C-0383C688A700}"/>
              </a:ext>
            </a:extLst>
          </p:cNvPr>
          <p:cNvSpPr/>
          <p:nvPr/>
        </p:nvSpPr>
        <p:spPr>
          <a:xfrm>
            <a:off x="4498248" y="2758059"/>
            <a:ext cx="1819656" cy="448056"/>
          </a:xfrm>
          <a:prstGeom prst="rect">
            <a:avLst/>
          </a:prstGeom>
          <a:solidFill>
            <a:srgbClr val="EAD6F5"/>
          </a:solidFill>
          <a:ln w="12700">
            <a:solidFill>
              <a:srgbClr val="E8EDF2"/>
            </a:solidFill>
            <a:prstDash val="solid"/>
          </a:ln>
        </p:spPr>
        <p:txBody>
          <a:bodyPr/>
          <a:lstStyle/>
          <a:p>
            <a:endParaRPr lang="en-JP" dirty="0">
              <a:highlight>
                <a:srgbClr val="F5F5F5"/>
              </a:highlight>
            </a:endParaRPr>
          </a:p>
        </p:txBody>
      </p:sp>
      <p:sp>
        <p:nvSpPr>
          <p:cNvPr id="51" name="Text 55">
            <a:extLst>
              <a:ext uri="{FF2B5EF4-FFF2-40B4-BE49-F238E27FC236}">
                <a16:creationId xmlns:a16="http://schemas.microsoft.com/office/drawing/2014/main" id="{ACD16DB2-F696-04EB-DFF7-775444143574}"/>
              </a:ext>
            </a:extLst>
          </p:cNvPr>
          <p:cNvSpPr/>
          <p:nvPr/>
        </p:nvSpPr>
        <p:spPr>
          <a:xfrm>
            <a:off x="4553112" y="2776347"/>
            <a:ext cx="1709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VIP=0.98/1.06</a:t>
            </a:r>
            <a:endParaRPr lang="en-US" sz="1100" dirty="0"/>
          </a:p>
        </p:txBody>
      </p:sp>
      <p:sp>
        <p:nvSpPr>
          <p:cNvPr id="54" name="Shape 58">
            <a:extLst>
              <a:ext uri="{FF2B5EF4-FFF2-40B4-BE49-F238E27FC236}">
                <a16:creationId xmlns:a16="http://schemas.microsoft.com/office/drawing/2014/main" id="{F5E5C845-273F-8678-68D3-D0DE4024C7E0}"/>
              </a:ext>
            </a:extLst>
          </p:cNvPr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7FB3D3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5" name="Text 59">
            <a:extLst>
              <a:ext uri="{FF2B5EF4-FFF2-40B4-BE49-F238E27FC236}">
                <a16:creationId xmlns:a16="http://schemas.microsoft.com/office/drawing/2014/main" id="{F2609ACC-D3F2-1651-F85B-81FB9F9F3659}"/>
              </a:ext>
            </a:extLst>
          </p:cNvPr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一次胆汁酸（CA・CDCA）は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共通経路の代謝物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</a:p>
          <a:p>
            <a:pPr marL="0" indent="0">
              <a:buNone/>
            </a:pPr>
            <a:r>
              <a:rPr lang="en-US" sz="12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二次胆汁酸（DCA）は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摂動XとYで目的変数に対する寄与が異なる代謝物（腸内細菌叢の違いを示唆</a:t>
            </a: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？）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70748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まとめ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347472" cy="34747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65836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PLS-DA による4グループの識別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10058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EarlyとLateの両期間で Component 1 </a:t>
            </a:r>
            <a:r>
              <a:rPr lang="en-US" sz="1000" dirty="0" err="1">
                <a:solidFill>
                  <a:srgbClr val="555555"/>
                </a:solidFill>
              </a:rPr>
              <a:t>が</a:t>
            </a:r>
            <a:r>
              <a:rPr lang="en-US" sz="1000" dirty="0">
                <a:solidFill>
                  <a:srgbClr val="555555"/>
                </a:solidFill>
              </a:rPr>
              <a:t> 約53% を説明。グループの空間配置は2期間で異なり、各摂動期で目的変数に寄与する代謝物が異なることが示唆された。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82496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347472" cy="34747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Text 9"/>
          <p:cNvSpPr/>
          <p:nvPr/>
        </p:nvSpPr>
        <p:spPr>
          <a:xfrm>
            <a:off x="32004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72821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摂動X・Y で重要代謝物が異なる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07568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55555"/>
                </a:solidFill>
              </a:rPr>
              <a:t>VIP 上位30代謝物はEarlyとLateでほぼ重複しない。EarlyはCholesterol関連，LateはCapsiamideやSphingomyelinなどが上位に出現した</a:t>
            </a:r>
            <a:r>
              <a:rPr lang="ja-JP" altLang="en-US" sz="1000">
                <a:solidFill>
                  <a:srgbClr val="555555"/>
                </a:solidFill>
              </a:rPr>
              <a:t>。</a:t>
            </a:r>
            <a:endParaRPr lang="en-US" altLang="ja-JP" sz="1000" dirty="0">
              <a:solidFill>
                <a:srgbClr val="555555"/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000" dirty="0" err="1">
                <a:solidFill>
                  <a:srgbClr val="555555"/>
                </a:solidFill>
              </a:rPr>
              <a:t>目的変数までに至る経路が異なる可能性を示している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5" name="Shape 13"/>
          <p:cNvSpPr/>
          <p:nvPr/>
        </p:nvSpPr>
        <p:spPr>
          <a:xfrm>
            <a:off x="320040" y="2825496"/>
            <a:ext cx="347472" cy="347472"/>
          </a:xfrm>
          <a:prstGeom prst="rect">
            <a:avLst/>
          </a:prstGeom>
          <a:solidFill>
            <a:srgbClr val="E60039"/>
          </a:solidFill>
          <a:ln w="12700">
            <a:solidFill>
              <a:srgbClr val="E60039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6" name="Text 14"/>
          <p:cNvSpPr/>
          <p:nvPr/>
        </p:nvSpPr>
        <p:spPr>
          <a:xfrm>
            <a:off x="32004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279806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ローディング逆転代謝物がメカニズム差の鍵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3064138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000" dirty="0" err="1">
                <a:solidFill>
                  <a:srgbClr val="555555"/>
                </a:solidFill>
              </a:rPr>
              <a:t>摂動X・Yで機能的役割が逆転する可能性のある代謝物を推定できた。目的変数の産生経路の差異を説明する有力候補である</a:t>
            </a:r>
            <a:r>
              <a:rPr lang="en-US" sz="1000" dirty="0">
                <a:solidFill>
                  <a:srgbClr val="555555"/>
                </a:solidFill>
              </a:rPr>
              <a:t>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0" name="Shape 18"/>
          <p:cNvSpPr/>
          <p:nvPr/>
        </p:nvSpPr>
        <p:spPr>
          <a:xfrm>
            <a:off x="320040" y="3895344"/>
            <a:ext cx="347472" cy="347472"/>
          </a:xfrm>
          <a:prstGeom prst="rect">
            <a:avLst/>
          </a:prstGeom>
          <a:solidFill>
            <a:srgbClr val="929292"/>
          </a:solidFill>
          <a:ln w="12700">
            <a:solidFill>
              <a:srgbClr val="929292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Text 19"/>
          <p:cNvSpPr/>
          <p:nvPr/>
        </p:nvSpPr>
        <p:spPr>
          <a:xfrm>
            <a:off x="3200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386791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2222"/>
                </a:solidFill>
              </a:rPr>
              <a:t>今後の課題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4215384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</a:rPr>
              <a:t>ローディング逆転代謝物の経路解析、Predictorとしてメタゲノムのデータを解析させていただきたい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882</Words>
  <Application>Microsoft Macintosh PowerPoint</Application>
  <PresentationFormat>On-screen Show (16:9)</PresentationFormat>
  <Paragraphs>170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PLS-DA解析まとめ — Alignment ID 414</dc:title>
  <dc:subject>PptxGenJS Presentation</dc:subject>
  <dc:creator>sano</dc:creator>
  <cp:lastModifiedBy>佐野　ひとみ</cp:lastModifiedBy>
  <cp:revision>43</cp:revision>
  <dcterms:created xsi:type="dcterms:W3CDTF">2026-06-10T07:01:44Z</dcterms:created>
  <dcterms:modified xsi:type="dcterms:W3CDTF">2026-06-18T07:30:37Z</dcterms:modified>
</cp:coreProperties>
</file>